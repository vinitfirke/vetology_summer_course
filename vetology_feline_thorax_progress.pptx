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Cambria"/>
              </a:rPr>
              <a:t>Sensitivity vs. Specificity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6FB8D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GPT-5.5</c:v>
                  </c:pt>
                  <c:pt idx="1">
                    <c:v>Mistral</c:v>
                  </c:pt>
                  <c:pt idx="2">
                    <c:v>Groq</c:v>
                  </c:pt>
                  <c:pt idx="3">
                    <c:v>Kimi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0.952</c:v>
                </c:pt>
                <c:pt idx="1">
                  <c:v>0.952</c:v>
                </c:pt>
                <c:pt idx="2">
                  <c:v>1</c:v>
                </c:pt>
                <c:pt idx="3">
                  <c:v>0.952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F2A34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GPT-5.5</c:v>
                  </c:pt>
                  <c:pt idx="1">
                    <c:v>Mistral</c:v>
                  </c:pt>
                  <c:pt idx="2">
                    <c:v>Groq</c:v>
                  </c:pt>
                  <c:pt idx="3">
                    <c:v>Kimi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0.655</c:v>
                </c:pt>
                <c:pt idx="1">
                  <c:v>0.517</c:v>
                </c:pt>
                <c:pt idx="2">
                  <c:v>0.481</c:v>
                </c:pt>
                <c:pt idx="3">
                  <c:v>0.586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9525" cap="flat">
              <a:solidFill>
                <a:srgbClr val="E4E9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8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D1B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Left-sided cardiomegaly  (n=1)</c:v>
                  </c:pt>
                  <c:pt idx="1">
                    <c:v>Pulm. vessel enlargement  (n=2)</c:v>
                  </c:pt>
                  <c:pt idx="2">
                    <c:v>Interstitial pattern  (n=3)</c:v>
                  </c:pt>
                  <c:pt idx="3">
                    <c:v>Pulmonary nodules  (n=5)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0.207</c:v>
                </c:pt>
                <c:pt idx="1">
                  <c:v>0.342</c:v>
                </c:pt>
                <c:pt idx="2">
                  <c:v>0.439</c:v>
                </c:pt>
                <c:pt idx="3">
                  <c:v>0.566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CI range</c:v>
                </c:pt>
              </c:strCache>
            </c:strRef>
          </c:tx>
          <c:spPr>
            <a:solidFill>
              <a:srgbClr val="F2A3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Left-sided cardiomegaly  (n=1)</c:v>
                  </c:pt>
                  <c:pt idx="1">
                    <c:v>Pulm. vessel enlargement  (n=2)</c:v>
                  </c:pt>
                  <c:pt idx="2">
                    <c:v>Interstitial pattern  (n=3)</c:v>
                  </c:pt>
                  <c:pt idx="3">
                    <c:v>Pulmonary nodules  (n=5)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0.793</c:v>
                </c:pt>
                <c:pt idx="1">
                  <c:v>0.658</c:v>
                </c:pt>
                <c:pt idx="2">
                  <c:v>0.561</c:v>
                </c:pt>
                <c:pt idx="3">
                  <c:v>0.434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D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4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89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A8899"/>
                    </a:solidFill>
                    <a:latin typeface="Calibri"/>
                  </a:rPr>
                  <a:t>95% Wilson interval on sensitivity (all point estimates = 100%)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8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669280" cy="5669280"/>
          </a:xfrm>
          <a:prstGeom prst="ellipse">
            <a:avLst/>
          </a:prstGeom>
          <a:ln w="25400">
            <a:solidFill>
              <a:srgbClr val="1628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822960"/>
            <a:ext cx="4389120" cy="4389120"/>
          </a:xfrm>
          <a:prstGeom prst="ellipse">
            <a:avLst/>
          </a:prstGeom>
          <a:ln w="25400">
            <a:solidFill>
              <a:srgbClr val="1628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-182880"/>
            <a:ext cx="3108960" cy="3108960"/>
          </a:xfrm>
          <a:prstGeom prst="ellipse">
            <a:avLst/>
          </a:prstGeom>
          <a:ln w="25400">
            <a:solidFill>
              <a:srgbClr val="6FB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VETOLOGY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Radiology Reports with LLMs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Feline Thorax Classification — Progress &amp; Results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Firke  |  Internal Review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gold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reads a feline thoracic radiology report and judges 19 findings as normal / abnormal — checked against a manually-labeled gold standard.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Radiology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feline thorax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gold-labeled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85900" y="320040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08376" y="3419856"/>
            <a:ext cx="246888" cy="109728"/>
          </a:xfrm>
          <a:prstGeom prst="rightArrow">
            <a:avLst/>
          </a:prstGeom>
          <a:solidFill>
            <a:srgbClr val="7A8899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33172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LLMs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56432" y="3017520"/>
            <a:ext cx="457200" cy="457200"/>
          </a:xfrm>
          <a:prstGeom prst="ellipse">
            <a:avLst/>
          </a:prstGeom>
          <a:solidFill>
            <a:srgbClr val="6FB8D9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56432" y="3401568"/>
            <a:ext cx="457200" cy="457200"/>
          </a:xfrm>
          <a:prstGeom prst="ellipse">
            <a:avLst/>
          </a:prstGeom>
          <a:solidFill>
            <a:srgbClr val="6F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3785616"/>
            <a:ext cx="457200" cy="457200"/>
          </a:xfrm>
          <a:prstGeom prst="ellipse">
            <a:avLst/>
          </a:prstGeom>
          <a:solidFill>
            <a:srgbClr val="6FB8D9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GRQ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37856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oss-120b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56432" y="4169664"/>
            <a:ext cx="457200" cy="457200"/>
          </a:xfrm>
          <a:prstGeom prst="ellipse">
            <a:avLst/>
          </a:prstGeom>
          <a:solidFill>
            <a:srgbClr val="6FB8D9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4169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Kimi-k3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0136" y="3419856"/>
            <a:ext cx="246888" cy="109728"/>
          </a:xfrm>
          <a:prstGeom prst="rightArrow">
            <a:avLst/>
          </a:prstGeom>
          <a:solidFill>
            <a:srgbClr val="7A889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233172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findings, each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abnormal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cited evidence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89420" y="320040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67894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1896" y="3419856"/>
            <a:ext cx="246888" cy="109728"/>
          </a:xfrm>
          <a:prstGeom prst="rightArrow">
            <a:avLst/>
          </a:prstGeom>
          <a:solidFill>
            <a:srgbClr val="7A8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233172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2560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Scored vs.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Standard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+ 95% CI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41180" y="3200400"/>
            <a:ext cx="640080" cy="64008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35" name="Text 33"/>
          <p:cNvSpPr/>
          <p:nvPr/>
        </p:nvSpPr>
        <p:spPr>
          <a:xfrm>
            <a:off x="94411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cases  ×  19 findings  ×  4 models  =  3,800 judgments scored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report “accuracy”?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findings are rare. A metric that ignores that is a metric that flatters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3F6F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achieved by labeling every single finding “normal,” without reading the report at all.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most findings are absent in most cases, a model (or a coin flip) that never says “abnormal” still scores well on accuracy alone.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286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 INSTEAD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834640"/>
            <a:ext cx="128016" cy="128016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7157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per finding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044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cases truly abnormal, how many did the model catch?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3794760"/>
            <a:ext cx="128016" cy="128016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6758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Specificity, per finding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40050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cases truly normal, how many did the model correctly clear?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4754880"/>
            <a:ext cx="128016" cy="128016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636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Wilson confidence interval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9651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estimate — built for small, boundary-heavy samples, unlike the textbook interval.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models actually differ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“Diseased lungs” — the one composite finding with enough positive cases (n=21) to show real spread between models.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783080"/>
            <a:ext cx="3063240" cy="4297680"/>
          </a:xfrm>
          <a:prstGeom prst="roundRect">
            <a:avLst>
              <a:gd name="adj" fmla="val 2388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377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catch abnormal lungs about equally well.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33375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disagree sharply on false alarms — Groq flags nearly twice as many normal lungs as diseased.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5394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21 abnormal, 29 normal cases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 interval is the finding, not a defect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reads 100% for these findings — but with 1 to 5 positive cases, the confidence interval says how much to trust that.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589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n  →  narrower interval, same result.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458200" y="182880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0D1B2A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19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732520" y="2880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had zero positive cases in this 50-case set — sensitivity is undefined, not zero.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41605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50+ additional cases per condition, targeted at the rare findings.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generalizes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deep dive is feline thorax. The same pipeline is already running on two more panels.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23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Canine Thorax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19-finding structure, new species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scored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5364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364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0144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90144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074920" cy="347472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423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Canine Abdomen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2880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anatomy — gastritis, ascites, organomegaly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67512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scored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292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292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cases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70720" y="3474720"/>
            <a:ext cx="13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570720" y="4251960"/>
            <a:ext cx="131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out of today’s numbers on purpose — one topic, done properly, beats three done thinly.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next: does the model know when it might be wrong?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so far measures correctness against the gold standard. It says nothing about the model’s own confidence — that’s the next build.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2258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Elicitation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651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rate its own certainty, 0–100.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3401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Probability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3794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probability the model assigned its own answer.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77240" cy="77724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4544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Consistency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937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case repeatedly; measure how often it agrees with itself.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Savage et al., JAMIA 2025 — design complete, implementation next.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5669280" cy="5669280"/>
          </a:xfrm>
          <a:prstGeom prst="ellipse">
            <a:avLst/>
          </a:prstGeom>
          <a:ln w="25400">
            <a:solidFill>
              <a:srgbClr val="1628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2651760"/>
            <a:ext cx="4389120" cy="4389120"/>
          </a:xfrm>
          <a:prstGeom prst="ellipse">
            <a:avLst/>
          </a:prstGeom>
          <a:ln w="25400">
            <a:solidFill>
              <a:srgbClr val="1628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210312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D6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and specificity tell us how often the model is right.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288036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chapter asks whether it knows when it might be wrong.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6126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Firke  |  vinitfirke@gmail.com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2026-08-09T22:23:48Z</dcterms:created>
  <dcterms:modified xsi:type="dcterms:W3CDTF">2026-08-09T22:23:48Z</dcterms:modified>
</cp:coreProperties>
</file>